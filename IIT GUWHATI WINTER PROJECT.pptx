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0" r:id="rId1"/>
  </p:sldMasterIdLst>
  <p:notesMasterIdLst>
    <p:notesMasterId r:id="rId11"/>
  </p:notesMasterIdLst>
  <p:sldIdLst>
    <p:sldId id="256" r:id="rId2"/>
    <p:sldId id="263" r:id="rId3"/>
    <p:sldId id="259" r:id="rId4"/>
    <p:sldId id="260" r:id="rId5"/>
    <p:sldId id="261" r:id="rId6"/>
    <p:sldId id="262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rsh kumar" userId="657f72551fefb202" providerId="LiveId" clId="{A2B11AE0-692F-42DB-9F98-A70DC8D2CC2C}"/>
    <pc:docChg chg="addSld delSld">
      <pc:chgData name="adarsh kumar" userId="657f72551fefb202" providerId="LiveId" clId="{A2B11AE0-692F-42DB-9F98-A70DC8D2CC2C}" dt="2025-12-31T08:57:28.444" v="23" actId="47"/>
      <pc:docMkLst>
        <pc:docMk/>
      </pc:docMkLst>
      <pc:sldChg chg="new del">
        <pc:chgData name="adarsh kumar" userId="657f72551fefb202" providerId="LiveId" clId="{A2B11AE0-692F-42DB-9F98-A70DC8D2CC2C}" dt="2025-12-31T08:57:28.444" v="23" actId="47"/>
        <pc:sldMkLst>
          <pc:docMk/>
          <pc:sldMk cId="3704166273" sldId="268"/>
        </pc:sldMkLst>
      </pc:sldChg>
      <pc:sldChg chg="new del">
        <pc:chgData name="adarsh kumar" userId="657f72551fefb202" providerId="LiveId" clId="{A2B11AE0-692F-42DB-9F98-A70DC8D2CC2C}" dt="2025-12-31T08:57:27.565" v="22" actId="47"/>
        <pc:sldMkLst>
          <pc:docMk/>
          <pc:sldMk cId="1950243035" sldId="269"/>
        </pc:sldMkLst>
      </pc:sldChg>
      <pc:sldChg chg="new del">
        <pc:chgData name="adarsh kumar" userId="657f72551fefb202" providerId="LiveId" clId="{A2B11AE0-692F-42DB-9F98-A70DC8D2CC2C}" dt="2025-12-31T08:57:27.371" v="21" actId="47"/>
        <pc:sldMkLst>
          <pc:docMk/>
          <pc:sldMk cId="3703523552" sldId="270"/>
        </pc:sldMkLst>
      </pc:sldChg>
      <pc:sldChg chg="new del">
        <pc:chgData name="adarsh kumar" userId="657f72551fefb202" providerId="LiveId" clId="{A2B11AE0-692F-42DB-9F98-A70DC8D2CC2C}" dt="2025-12-31T08:57:27.207" v="20" actId="47"/>
        <pc:sldMkLst>
          <pc:docMk/>
          <pc:sldMk cId="167958651" sldId="271"/>
        </pc:sldMkLst>
      </pc:sldChg>
      <pc:sldChg chg="new del">
        <pc:chgData name="adarsh kumar" userId="657f72551fefb202" providerId="LiveId" clId="{A2B11AE0-692F-42DB-9F98-A70DC8D2CC2C}" dt="2025-12-31T08:57:27.002" v="19" actId="47"/>
        <pc:sldMkLst>
          <pc:docMk/>
          <pc:sldMk cId="2432419240" sldId="272"/>
        </pc:sldMkLst>
      </pc:sldChg>
      <pc:sldChg chg="new del">
        <pc:chgData name="adarsh kumar" userId="657f72551fefb202" providerId="LiveId" clId="{A2B11AE0-692F-42DB-9F98-A70DC8D2CC2C}" dt="2025-12-31T08:57:26.862" v="18" actId="47"/>
        <pc:sldMkLst>
          <pc:docMk/>
          <pc:sldMk cId="2816930234" sldId="273"/>
        </pc:sldMkLst>
      </pc:sldChg>
      <pc:sldChg chg="new del">
        <pc:chgData name="adarsh kumar" userId="657f72551fefb202" providerId="LiveId" clId="{A2B11AE0-692F-42DB-9F98-A70DC8D2CC2C}" dt="2025-12-31T08:57:26.669" v="17" actId="47"/>
        <pc:sldMkLst>
          <pc:docMk/>
          <pc:sldMk cId="558789827" sldId="274"/>
        </pc:sldMkLst>
      </pc:sldChg>
      <pc:sldChg chg="new del">
        <pc:chgData name="adarsh kumar" userId="657f72551fefb202" providerId="LiveId" clId="{A2B11AE0-692F-42DB-9F98-A70DC8D2CC2C}" dt="2025-12-31T08:57:26.485" v="16" actId="47"/>
        <pc:sldMkLst>
          <pc:docMk/>
          <pc:sldMk cId="1972775987" sldId="275"/>
        </pc:sldMkLst>
      </pc:sldChg>
      <pc:sldChg chg="new del">
        <pc:chgData name="adarsh kumar" userId="657f72551fefb202" providerId="LiveId" clId="{A2B11AE0-692F-42DB-9F98-A70DC8D2CC2C}" dt="2025-12-31T08:57:26.299" v="15" actId="47"/>
        <pc:sldMkLst>
          <pc:docMk/>
          <pc:sldMk cId="3125153101" sldId="276"/>
        </pc:sldMkLst>
      </pc:sldChg>
      <pc:sldChg chg="new del">
        <pc:chgData name="adarsh kumar" userId="657f72551fefb202" providerId="LiveId" clId="{A2B11AE0-692F-42DB-9F98-A70DC8D2CC2C}" dt="2025-12-31T08:57:26.105" v="14" actId="47"/>
        <pc:sldMkLst>
          <pc:docMk/>
          <pc:sldMk cId="2327222559" sldId="277"/>
        </pc:sldMkLst>
      </pc:sldChg>
      <pc:sldChg chg="new del">
        <pc:chgData name="adarsh kumar" userId="657f72551fefb202" providerId="LiveId" clId="{A2B11AE0-692F-42DB-9F98-A70DC8D2CC2C}" dt="2025-12-31T08:57:25.857" v="13" actId="47"/>
        <pc:sldMkLst>
          <pc:docMk/>
          <pc:sldMk cId="2136957077" sldId="278"/>
        </pc:sldMkLst>
      </pc:sldChg>
      <pc:sldChg chg="new del">
        <pc:chgData name="adarsh kumar" userId="657f72551fefb202" providerId="LiveId" clId="{A2B11AE0-692F-42DB-9F98-A70DC8D2CC2C}" dt="2025-12-31T08:57:25.472" v="12" actId="47"/>
        <pc:sldMkLst>
          <pc:docMk/>
          <pc:sldMk cId="2492246629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E64CE-1D92-486D-96FF-8692D830C4D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A1E4F-F588-4D6C-9575-6F433A0D7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78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A1E4F-F588-4D6C-9575-6F433A0D7A4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839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77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67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8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63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72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36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816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47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89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5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898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02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6761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582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974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98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2F65-9458-42CB-AE77-3A33CE4B1DE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FBBBE16-7D2B-47F1-B422-8F9D04870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2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A58E-528C-93CD-9DC1-0A8D4650F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OTT Viewer Drop-off &amp; Retention Analysis</a:t>
            </a:r>
            <a:br>
              <a:rPr lang="en-US" sz="2700" b="1" dirty="0"/>
            </a:br>
            <a:r>
              <a:rPr lang="en-US" sz="2700" b="1" dirty="0"/>
              <a:t>Understanding Content, Behavior, and Platform Drivers of Viewer</a:t>
            </a:r>
            <a:br>
              <a:rPr lang="en-US" dirty="0"/>
            </a:br>
            <a:r>
              <a:rPr lang="en-US" sz="2700" dirty="0"/>
              <a:t>(Winter Consulting Capstone Case | 2025)</a:t>
            </a:r>
            <a:endParaRPr lang="en-IN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847CB-8EDA-DC56-BA4D-A03AE1D306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sz="5600" b="1" dirty="0"/>
              <a:t>Prepared by:</a:t>
            </a:r>
            <a:br>
              <a:rPr lang="en-IN" sz="5600" dirty="0"/>
            </a:br>
            <a:r>
              <a:rPr lang="en-IN" sz="5600" dirty="0"/>
              <a:t>Adarsh Kumar</a:t>
            </a:r>
          </a:p>
          <a:p>
            <a:r>
              <a:rPr lang="en-IN" sz="5600" b="1" dirty="0"/>
              <a:t>Tools Used:</a:t>
            </a:r>
            <a:br>
              <a:rPr lang="en-IN" sz="5600" dirty="0"/>
            </a:br>
            <a:r>
              <a:rPr lang="en-IN" sz="5600" dirty="0"/>
              <a:t>Excel | SQL | Power BI | PowerPoint</a:t>
            </a:r>
          </a:p>
          <a:p>
            <a:r>
              <a:rPr lang="en-IN" sz="5600" b="1" dirty="0"/>
              <a:t>Dataset:</a:t>
            </a:r>
            <a:br>
              <a:rPr lang="en-IN" sz="5600" dirty="0"/>
            </a:br>
            <a:r>
              <a:rPr lang="en-IN" sz="5600" dirty="0"/>
              <a:t>OTT Episode-Level Viewer Retention Dataset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133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8C93-83A8-E299-4581-CE462F27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DATA-DRIVEN INSIGHTS WHICH TELLS( WHY DO VIEWERS DROP OFF?)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537E-6471-589D-6132-20D2A51CAF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6400" dirty="0">
                <a:latin typeface="Arial" panose="020B0604020202020204" pitchFamily="34" charset="0"/>
              </a:rPr>
              <a:t>High cognitive load → </a:t>
            </a:r>
            <a:r>
              <a:rPr lang="en-US" altLang="en-US" sz="6400" b="1" dirty="0">
                <a:latin typeface="Arial" panose="020B0604020202020204" pitchFamily="34" charset="0"/>
              </a:rPr>
              <a:t>~45–50% drop-off</a:t>
            </a:r>
            <a:endParaRPr lang="en-US" altLang="en-US" sz="6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6400" dirty="0">
                <a:latin typeface="Arial" panose="020B0604020202020204" pitchFamily="34" charset="0"/>
              </a:rPr>
              <a:t>Weak/medium hooks → </a:t>
            </a:r>
            <a:r>
              <a:rPr lang="en-US" altLang="en-US" sz="6400" b="1" dirty="0">
                <a:latin typeface="Arial" panose="020B0604020202020204" pitchFamily="34" charset="0"/>
              </a:rPr>
              <a:t>~35–40% drop-off</a:t>
            </a:r>
            <a:endParaRPr lang="en-US" altLang="en-US" sz="6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6400" dirty="0">
                <a:latin typeface="Arial" panose="020B0604020202020204" pitchFamily="34" charset="0"/>
              </a:rPr>
              <a:t>High dialogue density → </a:t>
            </a:r>
            <a:r>
              <a:rPr lang="en-US" altLang="en-US" sz="6400" b="1" dirty="0">
                <a:latin typeface="Arial" panose="020B0604020202020204" pitchFamily="34" charset="0"/>
              </a:rPr>
              <a:t>~30% drop-off</a:t>
            </a:r>
            <a:endParaRPr lang="en-US" altLang="en-US" sz="6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6400" dirty="0">
                <a:latin typeface="Arial" panose="020B0604020202020204" pitchFamily="34" charset="0"/>
              </a:rPr>
              <a:t>High pause intensity → </a:t>
            </a:r>
            <a:r>
              <a:rPr lang="en-US" altLang="en-US" sz="6400" b="1" dirty="0">
                <a:latin typeface="Arial" panose="020B0604020202020204" pitchFamily="34" charset="0"/>
              </a:rPr>
              <a:t>~55–60% drop-off</a:t>
            </a:r>
            <a:endParaRPr lang="en-US" altLang="en-US" sz="6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6400" dirty="0">
                <a:latin typeface="Arial" panose="020B0604020202020204" pitchFamily="34" charset="0"/>
              </a:rPr>
              <a:t>~</a:t>
            </a:r>
            <a:r>
              <a:rPr lang="en-US" altLang="en-US" sz="6400" b="1" dirty="0">
                <a:latin typeface="Arial" panose="020B0604020202020204" pitchFamily="34" charset="0"/>
              </a:rPr>
              <a:t>80% of drop-offs occur when intro is skipped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6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400" b="1" dirty="0"/>
              <a:t>Conclusion:</a:t>
            </a:r>
            <a:br>
              <a:rPr lang="en-US" sz="6400" dirty="0"/>
            </a:br>
            <a:r>
              <a:rPr lang="en-US" sz="6400" dirty="0"/>
              <a:t>Viewer drop-off is primarily driven by </a:t>
            </a:r>
            <a:r>
              <a:rPr lang="en-US" sz="6400" b="1" dirty="0"/>
              <a:t>early cognitive overload and weak episode hooks</a:t>
            </a:r>
            <a:r>
              <a:rPr lang="en-US" sz="6400" dirty="0"/>
              <a:t>, which significantly increase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400" dirty="0"/>
              <a:t>disengagement, especially in the first few </a:t>
            </a:r>
            <a:r>
              <a:rPr lang="en-US" sz="6400" dirty="0" err="1"/>
              <a:t>episodes.Behavioral</a:t>
            </a:r>
            <a:r>
              <a:rPr lang="en-US" sz="6400" dirty="0"/>
              <a:t> signals such as </a:t>
            </a:r>
            <a:r>
              <a:rPr lang="en-US" sz="6400" b="1" dirty="0"/>
              <a:t>high pause intensity and skip-intro actions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400" b="1" dirty="0"/>
              <a:t>further amplify drop-off risk</a:t>
            </a:r>
            <a:r>
              <a:rPr lang="en-US" sz="6400" dirty="0"/>
              <a:t>, while performance varies widely across platforms, indicating opportunities for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400" b="1" dirty="0"/>
              <a:t>platform-specific optimization</a:t>
            </a:r>
            <a:r>
              <a:rPr lang="en-US" sz="6400" dirty="0"/>
              <a:t>.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5B76F8-CBCE-AAE6-F029-ADDFCD8856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075" y="2160589"/>
            <a:ext cx="4933325" cy="3379269"/>
          </a:xfrm>
        </p:spPr>
      </p:pic>
    </p:spTree>
    <p:extLst>
      <p:ext uri="{BB962C8B-B14F-4D97-AF65-F5344CB8AC3E}">
        <p14:creationId xmlns:p14="http://schemas.microsoft.com/office/powerpoint/2010/main" val="341108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67CFB-47F3-DDC8-4C26-0F9E48CF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FACTOR HAS THE GREATEST IMPACT ON DROP-OFF RISK?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304E-40D3-0430-E408-6605EF750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400" y="1897814"/>
            <a:ext cx="10515600" cy="4960186"/>
          </a:xfrm>
        </p:spPr>
        <p:txBody>
          <a:bodyPr>
            <a:normAutofit fontScale="25000" lnSpcReduction="20000"/>
          </a:bodyPr>
          <a:lstStyle/>
          <a:p>
            <a:r>
              <a:rPr lang="en-IN" sz="6400" b="1" dirty="0"/>
              <a:t>1. Pause Intensity (STRONGEST DRIVER)</a:t>
            </a:r>
          </a:p>
          <a:p>
            <a:r>
              <a:rPr lang="en-IN" sz="6400" b="1" dirty="0"/>
              <a:t>High Pause Intensity:</a:t>
            </a:r>
            <a:r>
              <a:rPr lang="en-IN" sz="6400" dirty="0"/>
              <a:t> </a:t>
            </a:r>
            <a:r>
              <a:rPr lang="en-IN" sz="6400" b="1" dirty="0"/>
              <a:t>~55–60% drop-off</a:t>
            </a:r>
            <a:endParaRPr lang="en-IN" sz="6400" dirty="0"/>
          </a:p>
          <a:p>
            <a:r>
              <a:rPr lang="en-IN" sz="6400" dirty="0"/>
              <a:t>Medium Pause Intensity: </a:t>
            </a:r>
            <a:r>
              <a:rPr lang="en-IN" sz="6400" b="1" dirty="0"/>
              <a:t>~25%</a:t>
            </a:r>
            <a:endParaRPr lang="en-IN" sz="6400" dirty="0"/>
          </a:p>
          <a:p>
            <a:r>
              <a:rPr lang="en-IN" sz="6400" dirty="0"/>
              <a:t>Low Pause Intensity: </a:t>
            </a:r>
            <a:r>
              <a:rPr lang="en-IN" sz="6400" b="1" dirty="0"/>
              <a:t>&lt;10%</a:t>
            </a:r>
          </a:p>
          <a:p>
            <a:r>
              <a:rPr lang="en-IN" sz="6400" dirty="0"/>
              <a:t> This is the </a:t>
            </a:r>
            <a:r>
              <a:rPr lang="en-IN" sz="6400" b="1" dirty="0"/>
              <a:t>highest drop-off observed across all factors</a:t>
            </a:r>
          </a:p>
          <a:p>
            <a:r>
              <a:rPr lang="en-IN" sz="6400" dirty="0"/>
              <a:t>Indicates confusion, overload, or disengagement</a:t>
            </a:r>
            <a:br>
              <a:rPr lang="en-IN" sz="6400" dirty="0"/>
            </a:br>
            <a:endParaRPr lang="en-IN" sz="6400" dirty="0"/>
          </a:p>
          <a:p>
            <a:r>
              <a:rPr lang="en-IN" sz="6400" b="1" dirty="0"/>
              <a:t> 2. Cognitive Load (Strong Structural Driver)</a:t>
            </a:r>
          </a:p>
          <a:p>
            <a:r>
              <a:rPr lang="en-IN" sz="6400" b="1" dirty="0"/>
              <a:t>High Cognitive Load:</a:t>
            </a:r>
            <a:r>
              <a:rPr lang="en-IN" sz="6400" dirty="0"/>
              <a:t> </a:t>
            </a:r>
            <a:r>
              <a:rPr lang="en-IN" sz="6400" b="1" dirty="0"/>
              <a:t>~45–50% drop-off</a:t>
            </a:r>
            <a:endParaRPr lang="en-IN" sz="6400" dirty="0"/>
          </a:p>
          <a:p>
            <a:r>
              <a:rPr lang="en-IN" sz="6400" dirty="0"/>
              <a:t>Medium Cognitive Load: </a:t>
            </a:r>
            <a:r>
              <a:rPr lang="en-IN" sz="6400" b="1" dirty="0"/>
              <a:t>~10–12%</a:t>
            </a:r>
            <a:endParaRPr lang="en-IN" sz="6400" dirty="0"/>
          </a:p>
          <a:p>
            <a:r>
              <a:rPr lang="en-IN" sz="6400" dirty="0"/>
              <a:t>Low Cognitive Load: </a:t>
            </a:r>
            <a:r>
              <a:rPr lang="en-IN" sz="6400" b="1" dirty="0"/>
              <a:t>~5–7%</a:t>
            </a:r>
          </a:p>
          <a:p>
            <a:r>
              <a:rPr lang="en-IN" sz="6400" dirty="0"/>
              <a:t>High mental effort significantly increases drop-off risk</a:t>
            </a:r>
          </a:p>
          <a:p>
            <a:pPr marL="0" indent="0">
              <a:buNone/>
            </a:pPr>
            <a:endParaRPr lang="en-US" sz="6400" b="1" dirty="0"/>
          </a:p>
          <a:p>
            <a:pPr marL="0" indent="0">
              <a:buNone/>
            </a:pPr>
            <a:r>
              <a:rPr lang="en-IN" sz="6400" dirty="0"/>
              <a:t>Conclusion</a:t>
            </a:r>
            <a:endParaRPr lang="en-US" sz="6400" b="1" dirty="0"/>
          </a:p>
          <a:p>
            <a:pPr marL="0" indent="0">
              <a:buNone/>
            </a:pPr>
            <a:r>
              <a:rPr lang="en-US" sz="6400" b="1" dirty="0"/>
              <a:t>High Pause Intensity is the single strongest indicator of drop-off risk</a:t>
            </a:r>
            <a:r>
              <a:rPr lang="en-US" sz="6400" dirty="0"/>
              <a:t>, followed by </a:t>
            </a:r>
            <a:r>
              <a:rPr lang="en-US" sz="6400" b="1" dirty="0"/>
              <a:t>high cognitive load.</a:t>
            </a:r>
            <a:endParaRPr lang="en-IN" sz="6400" dirty="0"/>
          </a:p>
          <a:p>
            <a:pPr marL="0" indent="0">
              <a:buNone/>
            </a:pPr>
            <a:br>
              <a:rPr lang="en-IN" sz="6400" dirty="0"/>
            </a:br>
            <a:endParaRPr lang="en-IN" sz="6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79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E48B-843D-F012-4B2C-02948083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67813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What changes can be made, at the content or product level to reduce drop-off without compromising creative quality?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1A0D0-6AFC-AA2B-7974-B3BD746D7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834" y="1615613"/>
            <a:ext cx="9215966" cy="5369387"/>
          </a:xfrm>
        </p:spPr>
        <p:txBody>
          <a:bodyPr>
            <a:normAutofit fontScale="25000" lnSpcReduction="20000"/>
          </a:bodyPr>
          <a:lstStyle/>
          <a:p>
            <a:r>
              <a:rPr lang="en-US" sz="4800" b="1" dirty="0"/>
              <a:t>Content-Level Changes </a:t>
            </a:r>
          </a:p>
          <a:p>
            <a:r>
              <a:rPr lang="en-US" sz="4800" b="1" dirty="0"/>
              <a:t>Lower cognitive load in early episodes (Ep 1–3)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dirty="0"/>
              <a:t>Dashboard shows </a:t>
            </a:r>
            <a:r>
              <a:rPr lang="en-US" sz="4800" b="1" dirty="0"/>
              <a:t>~45–50% drop-off</a:t>
            </a:r>
            <a:r>
              <a:rPr lang="en-US" sz="4800" dirty="0"/>
              <a:t> for </a:t>
            </a:r>
            <a:r>
              <a:rPr lang="en-US" sz="4800" i="1" dirty="0"/>
              <a:t>high cognitive load</a:t>
            </a:r>
            <a:r>
              <a:rPr lang="en-US" sz="4800" dirty="0"/>
              <a:t> episodes</a:t>
            </a:r>
          </a:p>
          <a:p>
            <a:pPr marL="457200" lvl="1" indent="0">
              <a:buNone/>
            </a:pPr>
            <a:r>
              <a:rPr lang="en-US" sz="4800" dirty="0"/>
              <a:t>Compared to </a:t>
            </a:r>
            <a:r>
              <a:rPr lang="en-US" sz="4800" b="1" dirty="0"/>
              <a:t>~5–7% drop-off</a:t>
            </a:r>
            <a:r>
              <a:rPr lang="en-US" sz="4800" dirty="0"/>
              <a:t> for </a:t>
            </a:r>
            <a:r>
              <a:rPr lang="en-US" sz="4800" i="1" dirty="0"/>
              <a:t>low cognitive load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dirty="0"/>
              <a:t>Change: Gradual narrative build-up instead of front-loading complexity</a:t>
            </a:r>
          </a:p>
          <a:p>
            <a:r>
              <a:rPr lang="en-US" sz="4800" b="1" dirty="0"/>
              <a:t>Strengthen opening hooks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i="1" dirty="0"/>
              <a:t>Weak / Medium hook</a:t>
            </a:r>
            <a:r>
              <a:rPr lang="en-US" sz="4800" dirty="0"/>
              <a:t> episodes show </a:t>
            </a:r>
            <a:r>
              <a:rPr lang="en-US" sz="4800" b="1" dirty="0"/>
              <a:t>~35–40% drop-off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i="1" dirty="0"/>
              <a:t>Strong hook</a:t>
            </a:r>
            <a:r>
              <a:rPr lang="en-US" sz="4800" dirty="0"/>
              <a:t> episodes reduce drop-off to </a:t>
            </a:r>
            <a:r>
              <a:rPr lang="en-US" sz="4800" b="1" dirty="0"/>
              <a:t>~10–12%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dirty="0"/>
              <a:t>Change: Improve pacing and engagement in first few minutes, not story dilution</a:t>
            </a:r>
          </a:p>
          <a:p>
            <a:r>
              <a:rPr lang="en-US" sz="4800" b="1" dirty="0"/>
              <a:t>Reduce dialogue-heavy exposition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i="1" dirty="0"/>
              <a:t>High dialogue density</a:t>
            </a:r>
            <a:r>
              <a:rPr lang="en-US" sz="4800" dirty="0"/>
              <a:t> episodes show </a:t>
            </a:r>
            <a:r>
              <a:rPr lang="en-US" sz="4800" b="1" dirty="0"/>
              <a:t>~30% drop-off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i="1" dirty="0"/>
              <a:t>Low dialogue density</a:t>
            </a:r>
            <a:r>
              <a:rPr lang="en-US" sz="4800" dirty="0"/>
              <a:t> episodes show only </a:t>
            </a:r>
            <a:r>
              <a:rPr lang="en-US" sz="4800" b="1" dirty="0"/>
              <a:t>~6–7% drop-off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dirty="0"/>
              <a:t>Change: Support dialogue with visual cues instead of removing content</a:t>
            </a:r>
          </a:p>
          <a:p>
            <a:r>
              <a:rPr lang="en-US" sz="4800" b="1" dirty="0"/>
              <a:t>Use pause &amp; rewind spikes as real-time risk signals</a:t>
            </a:r>
            <a:endParaRPr lang="en-US" sz="4800" dirty="0"/>
          </a:p>
          <a:p>
            <a:pPr marL="0" indent="0">
              <a:buNone/>
            </a:pPr>
            <a:r>
              <a:rPr lang="en-US" sz="4800" dirty="0"/>
              <a:t>High pause intensity correlates with </a:t>
            </a:r>
            <a:r>
              <a:rPr lang="en-US" sz="4800" b="1" dirty="0"/>
              <a:t>~55–60% drop-off</a:t>
            </a:r>
            <a:r>
              <a:rPr lang="en-US" sz="4800" dirty="0"/>
              <a:t> (strongest signal)</a:t>
            </a:r>
          </a:p>
          <a:p>
            <a:pPr marL="0" indent="0">
              <a:buNone/>
            </a:pPr>
            <a:r>
              <a:rPr lang="en-US" sz="4800" dirty="0"/>
              <a:t>Action: Trigger contextual cues (recaps, character reminders, subtle hints)</a:t>
            </a:r>
          </a:p>
          <a:p>
            <a:r>
              <a:rPr lang="en-US" sz="4800" b="1" dirty="0"/>
              <a:t>Provide optional viewer assistance for complex content</a:t>
            </a:r>
            <a:endParaRPr lang="en-US" sz="4800" dirty="0"/>
          </a:p>
          <a:p>
            <a:pPr marL="457200" lvl="1" indent="0">
              <a:buNone/>
            </a:pPr>
            <a:r>
              <a:rPr lang="en-US" sz="4800" dirty="0"/>
              <a:t>Action: On-demand summaries, relationship maps, or episode recaps</a:t>
            </a:r>
          </a:p>
          <a:p>
            <a:pPr marL="457200" lvl="1" indent="0">
              <a:buNone/>
            </a:pPr>
            <a:r>
              <a:rPr lang="en-US" sz="4800" dirty="0"/>
              <a:t>Preserves creative depth while reducing viewer fatigue</a:t>
            </a:r>
          </a:p>
          <a:p>
            <a:pPr marL="457200" lvl="1" indent="0">
              <a:buNone/>
            </a:pPr>
            <a:endParaRPr lang="en-US" sz="4800" dirty="0"/>
          </a:p>
          <a:p>
            <a:pPr marL="0" indent="0">
              <a:buNone/>
            </a:pP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endParaRPr lang="en-US" sz="4800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23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2601-AC11-5BD0-ECA0-ECC9687B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SEGMENTATION &amp;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AB141-A961-E57E-1404-B97FBCEE16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1700" b="1" dirty="0"/>
              <a:t>Retention Risk Segmentation</a:t>
            </a:r>
          </a:p>
          <a:p>
            <a:r>
              <a:rPr lang="en-IN" sz="1700" dirty="0"/>
              <a:t>High-risk episodes: </a:t>
            </a:r>
            <a:r>
              <a:rPr lang="en-IN" sz="1700" b="1" dirty="0"/>
              <a:t>~31%</a:t>
            </a:r>
            <a:endParaRPr lang="en-IN" sz="1700" dirty="0"/>
          </a:p>
          <a:p>
            <a:r>
              <a:rPr lang="en-IN" sz="1700" dirty="0"/>
              <a:t>Medium-risk episodes: </a:t>
            </a:r>
            <a:r>
              <a:rPr lang="en-IN" sz="1700" b="1" dirty="0"/>
              <a:t>~58%</a:t>
            </a:r>
            <a:endParaRPr lang="en-IN" sz="1700" dirty="0"/>
          </a:p>
          <a:p>
            <a:r>
              <a:rPr lang="en-IN" sz="1700" dirty="0"/>
              <a:t>Low-risk episodes: </a:t>
            </a:r>
            <a:r>
              <a:rPr lang="en-IN" sz="1700" b="1" dirty="0"/>
              <a:t>~10%</a:t>
            </a:r>
            <a:endParaRPr lang="en-IN" sz="1700" dirty="0"/>
          </a:p>
          <a:p>
            <a:r>
              <a:rPr lang="en-IN" sz="1700" b="1" dirty="0"/>
              <a:t>Platform Segmentation</a:t>
            </a:r>
          </a:p>
          <a:p>
            <a:r>
              <a:rPr lang="en-IN" sz="1700" dirty="0"/>
              <a:t>Worst platforms: </a:t>
            </a:r>
            <a:r>
              <a:rPr lang="en-IN" sz="1700" b="1" dirty="0"/>
              <a:t>~20–21% drop-off</a:t>
            </a:r>
            <a:endParaRPr lang="en-IN" sz="1700" dirty="0"/>
          </a:p>
          <a:p>
            <a:r>
              <a:rPr lang="en-IN" sz="1700" dirty="0"/>
              <a:t>Best platforms: </a:t>
            </a:r>
            <a:r>
              <a:rPr lang="en-IN" sz="1700" b="1" dirty="0"/>
              <a:t>~4–6% drop-off</a:t>
            </a:r>
            <a:endParaRPr lang="en-IN" sz="1700" dirty="0"/>
          </a:p>
          <a:p>
            <a:r>
              <a:rPr lang="en-IN" sz="1700" b="1" dirty="0"/>
              <a:t>15–17 pp performance gap</a:t>
            </a:r>
            <a:endParaRPr lang="en-IN" sz="1700" dirty="0"/>
          </a:p>
          <a:p>
            <a:r>
              <a:rPr lang="en-IN" sz="1700" b="1" dirty="0"/>
              <a:t>Insight:</a:t>
            </a:r>
            <a:br>
              <a:rPr lang="en-IN" sz="1700" dirty="0"/>
            </a:br>
            <a:r>
              <a:rPr lang="en-IN" sz="1700" dirty="0"/>
              <a:t>A small subset of content and platforms drives a disproportionate share of churn.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FF03D8-F400-C274-2C7B-7494AC39BF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00" y="1825625"/>
            <a:ext cx="5168900" cy="3632994"/>
          </a:xfrm>
        </p:spPr>
      </p:pic>
    </p:spTree>
    <p:extLst>
      <p:ext uri="{BB962C8B-B14F-4D97-AF65-F5344CB8AC3E}">
        <p14:creationId xmlns:p14="http://schemas.microsoft.com/office/powerpoint/2010/main" val="318235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2F93E6-BC07-4DE4-6F00-B3538B2F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6AE8B-E73C-079B-A103-A21F0F5EF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1912" y="2019300"/>
            <a:ext cx="5729288" cy="3777622"/>
          </a:xfrm>
        </p:spPr>
        <p:txBody>
          <a:bodyPr>
            <a:noAutofit/>
          </a:bodyPr>
          <a:lstStyle/>
          <a:p>
            <a:r>
              <a:rPr lang="en-US" sz="1600" b="1" dirty="0"/>
              <a:t>What Do We Conclude?</a:t>
            </a:r>
          </a:p>
          <a:p>
            <a:r>
              <a:rPr lang="en-US" sz="1600" dirty="0"/>
              <a:t>Drop-off is </a:t>
            </a:r>
            <a:r>
              <a:rPr lang="en-US" sz="1600" b="1" dirty="0"/>
              <a:t>systematic</a:t>
            </a:r>
            <a:r>
              <a:rPr lang="en-US" sz="1600" dirty="0"/>
              <a:t>, not random</a:t>
            </a:r>
          </a:p>
          <a:p>
            <a:r>
              <a:rPr lang="en-US" sz="1600" dirty="0"/>
              <a:t>Early episodes matter most</a:t>
            </a:r>
          </a:p>
          <a:p>
            <a:r>
              <a:rPr lang="en-US" sz="1600" dirty="0"/>
              <a:t>Behavioral signals (pause, skip) act as </a:t>
            </a:r>
            <a:r>
              <a:rPr lang="en-US" sz="1600" b="1" dirty="0"/>
              <a:t>early warnings</a:t>
            </a:r>
            <a:endParaRPr lang="en-US" sz="1600" dirty="0"/>
          </a:p>
          <a:p>
            <a:r>
              <a:rPr lang="en-US" sz="1600" dirty="0"/>
              <a:t>Cognitive complexity without strong hooks is the biggest risk</a:t>
            </a:r>
          </a:p>
          <a:p>
            <a:pPr marL="0" indent="0">
              <a:buNone/>
            </a:pPr>
            <a:r>
              <a:rPr lang="en-US" sz="1600" b="1" dirty="0"/>
              <a:t>CONCLUSION:</a:t>
            </a:r>
          </a:p>
          <a:p>
            <a:pPr marL="0" indent="0">
              <a:buNone/>
            </a:pPr>
            <a:r>
              <a:rPr lang="en-US" sz="1400" dirty="0"/>
              <a:t>Analysis indicates that viewer drop-off is most sensitive to design choices in early episodes.</a:t>
            </a:r>
            <a:br>
              <a:rPr lang="en-US" sz="1400" dirty="0"/>
            </a:br>
            <a:r>
              <a:rPr lang="en-US" sz="1400" dirty="0"/>
              <a:t>Episodes with high cognitive load and weaker hooks show significantly higher drop-off rates.</a:t>
            </a:r>
            <a:br>
              <a:rPr lang="en-US" sz="1400" dirty="0"/>
            </a:br>
            <a:r>
              <a:rPr lang="en-US" sz="1400" dirty="0"/>
              <a:t>This suggests viewers disengage before forming narrative or emotional attachment.</a:t>
            </a:r>
            <a:br>
              <a:rPr lang="en-US" sz="1400" dirty="0"/>
            </a:br>
            <a:r>
              <a:rPr lang="en-US" sz="1400" dirty="0"/>
              <a:t>Optimizing early-episode pacing and clarity materially improves retention metrics.</a:t>
            </a:r>
            <a:br>
              <a:rPr lang="en-US" sz="1400" dirty="0"/>
            </a:br>
            <a:r>
              <a:rPr lang="en-US" sz="1400" dirty="0"/>
              <a:t>Importantly, these adjustments improve accessibility without reducing creative complexity later in the series.</a:t>
            </a:r>
            <a:endParaRPr lang="en-IN" sz="1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7C04E8-7E7A-EB58-D065-BE7CFC8F93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800" y="2133600"/>
            <a:ext cx="4651818" cy="3663322"/>
          </a:xfrm>
        </p:spPr>
      </p:pic>
    </p:spTree>
    <p:extLst>
      <p:ext uri="{BB962C8B-B14F-4D97-AF65-F5344CB8AC3E}">
        <p14:creationId xmlns:p14="http://schemas.microsoft.com/office/powerpoint/2010/main" val="123531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DAD0-A6D8-542B-2087-E4D8FFC4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RECOMMENDED ACTIONS &amp; PRIORITIZATION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27555-70A8-89D9-2C5D-2539A47C2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sz="6400" b="1" i="1" dirty="0"/>
              <a:t>What should OTT platforms do first?</a:t>
            </a:r>
            <a:endParaRPr lang="en-IN" sz="6400" b="1" dirty="0"/>
          </a:p>
          <a:p>
            <a:r>
              <a:rPr lang="en-IN" sz="6400" b="1" dirty="0"/>
              <a:t>High Priority (Immediate Impact)</a:t>
            </a:r>
          </a:p>
          <a:p>
            <a:r>
              <a:rPr lang="en-IN" sz="6400" dirty="0"/>
              <a:t>Reduce cognitive load in </a:t>
            </a:r>
            <a:r>
              <a:rPr lang="en-IN" sz="6400" b="1" dirty="0"/>
              <a:t>Episode 1–3</a:t>
            </a:r>
            <a:endParaRPr lang="en-IN" sz="6400" dirty="0"/>
          </a:p>
          <a:p>
            <a:r>
              <a:rPr lang="en-IN" sz="6400" dirty="0"/>
              <a:t>Strengthen hooks in the </a:t>
            </a:r>
            <a:r>
              <a:rPr lang="en-IN" sz="6400" b="1" dirty="0"/>
              <a:t>first 5 minutes</a:t>
            </a:r>
            <a:endParaRPr lang="en-IN" sz="6400" dirty="0"/>
          </a:p>
          <a:p>
            <a:r>
              <a:rPr lang="en-IN" sz="6400" dirty="0"/>
              <a:t>Flag episodes with high pause intensity in real time</a:t>
            </a:r>
          </a:p>
          <a:p>
            <a:r>
              <a:rPr lang="en-IN" sz="6400" b="1" dirty="0"/>
              <a:t>Medium Priority</a:t>
            </a:r>
          </a:p>
          <a:p>
            <a:r>
              <a:rPr lang="en-IN" sz="6400" dirty="0"/>
              <a:t>Add contextual recaps / character summaries</a:t>
            </a:r>
          </a:p>
          <a:p>
            <a:r>
              <a:rPr lang="en-IN" sz="6400" dirty="0"/>
              <a:t>Optimize dialogue-heavy episodes with visual support</a:t>
            </a:r>
          </a:p>
          <a:p>
            <a:r>
              <a:rPr lang="en-IN" sz="6400" b="1" dirty="0"/>
              <a:t>Lower Priority</a:t>
            </a:r>
          </a:p>
          <a:p>
            <a:r>
              <a:rPr lang="en-IN" sz="6400" dirty="0"/>
              <a:t>Long-term platform-specific content optimization</a:t>
            </a:r>
          </a:p>
          <a:p>
            <a:r>
              <a:rPr lang="en-IN" sz="6400" dirty="0"/>
              <a:t>Fine-tune genre-platform alignment</a:t>
            </a:r>
          </a:p>
          <a:p>
            <a:r>
              <a:rPr lang="en-IN" sz="6400" b="1" dirty="0"/>
              <a:t>Impact Estimate</a:t>
            </a:r>
          </a:p>
          <a:p>
            <a:r>
              <a:rPr lang="en-IN" sz="6400" dirty="0"/>
              <a:t>Potential drop-off reduction: </a:t>
            </a:r>
            <a:r>
              <a:rPr lang="en-IN" sz="6400" b="1" dirty="0"/>
              <a:t>30+ percentage points</a:t>
            </a:r>
            <a:r>
              <a:rPr lang="en-IN" sz="6400" dirty="0"/>
              <a:t> for high-risk episodes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39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69C0-26FA-8CBD-823A-BA23AD3D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RISKS &amp;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EFB2-902D-7BDA-7144-88A76DDB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63700"/>
            <a:ext cx="8915400" cy="37776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/>
              <a:t>What could go wrong? How to manage it?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Key Risks</a:t>
            </a:r>
          </a:p>
          <a:p>
            <a:r>
              <a:rPr lang="en-US" dirty="0"/>
              <a:t>Over-simplifying content may impact creative quality</a:t>
            </a:r>
          </a:p>
          <a:p>
            <a:r>
              <a:rPr lang="en-US" dirty="0"/>
              <a:t>One-size-fits-all optimization may not suit all genres</a:t>
            </a:r>
          </a:p>
          <a:p>
            <a:r>
              <a:rPr lang="en-US" dirty="0"/>
              <a:t>Behavioral signals can be noisy without context</a:t>
            </a:r>
          </a:p>
          <a:p>
            <a:pPr marL="0" indent="0">
              <a:buNone/>
            </a:pPr>
            <a:r>
              <a:rPr lang="en-US" b="1" dirty="0"/>
              <a:t>Mitigations</a:t>
            </a:r>
          </a:p>
          <a:p>
            <a:r>
              <a:rPr lang="en-US" dirty="0"/>
              <a:t>Apply changes </a:t>
            </a:r>
            <a:r>
              <a:rPr lang="en-US" b="1" dirty="0"/>
              <a:t>only to high-risk segments</a:t>
            </a:r>
            <a:endParaRPr lang="en-US" dirty="0"/>
          </a:p>
          <a:p>
            <a:r>
              <a:rPr lang="en-US" dirty="0"/>
              <a:t>Pilot interventions before full rollout</a:t>
            </a:r>
          </a:p>
          <a:p>
            <a:r>
              <a:rPr lang="en-US" dirty="0"/>
              <a:t>Combine behavioral signals with content context</a:t>
            </a:r>
          </a:p>
          <a:p>
            <a:pPr marL="0" indent="0">
              <a:buNone/>
            </a:pPr>
            <a:r>
              <a:rPr lang="en-US" b="1" dirty="0"/>
              <a:t>Final Note</a:t>
            </a:r>
          </a:p>
          <a:p>
            <a:r>
              <a:rPr lang="en-US" dirty="0"/>
              <a:t>Data-driven optimization should </a:t>
            </a:r>
            <a:r>
              <a:rPr lang="en-US" b="1" dirty="0"/>
              <a:t>support creativity</a:t>
            </a:r>
            <a:r>
              <a:rPr lang="en-US" dirty="0"/>
              <a:t>, not replace it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60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C43278-C33D-EC44-A189-BD6AC558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 — DATA, METHODOLOGY &amp; DEFINITIONS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2B050-4CEC-5197-A3F5-C319C82CE8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dirty="0"/>
              <a:t>1. DATA OVERVIEW</a:t>
            </a:r>
          </a:p>
          <a:p>
            <a:r>
              <a:rPr lang="en-US" sz="5600" b="1" dirty="0"/>
              <a:t>Total Episodes:</a:t>
            </a:r>
            <a:r>
              <a:rPr lang="en-US" sz="5600" dirty="0"/>
              <a:t> ~30,665</a:t>
            </a:r>
          </a:p>
          <a:p>
            <a:r>
              <a:rPr lang="en-US" sz="5600" b="1" dirty="0"/>
              <a:t>Total Shows:</a:t>
            </a:r>
            <a:r>
              <a:rPr lang="en-US" sz="5600" dirty="0"/>
              <a:t> 480</a:t>
            </a:r>
          </a:p>
          <a:p>
            <a:r>
              <a:rPr lang="en-US" sz="5600" b="1" dirty="0"/>
              <a:t>Total Platforms:</a:t>
            </a:r>
            <a:r>
              <a:rPr lang="en-US" sz="5600" dirty="0"/>
              <a:t> 28</a:t>
            </a:r>
          </a:p>
          <a:p>
            <a:r>
              <a:rPr lang="en-US" sz="5600" b="1" dirty="0"/>
              <a:t>Granularity:</a:t>
            </a:r>
            <a:r>
              <a:rPr lang="en-US" sz="5600" dirty="0"/>
              <a:t> Episode-level</a:t>
            </a:r>
          </a:p>
          <a:p>
            <a:r>
              <a:rPr lang="en-US" sz="5600" b="1" dirty="0"/>
              <a:t>Region:</a:t>
            </a:r>
            <a:r>
              <a:rPr lang="en-US" sz="5600" dirty="0"/>
              <a:t> OTT platforms</a:t>
            </a:r>
          </a:p>
          <a:p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2. KEY METRICS DEFINITIONS</a:t>
            </a:r>
          </a:p>
          <a:p>
            <a:r>
              <a:rPr lang="en-US" sz="5600" b="1" dirty="0"/>
              <a:t>Drop-off Rate:</a:t>
            </a:r>
            <a:r>
              <a:rPr lang="en-US" sz="5600" dirty="0"/>
              <a:t> Probability of viewers exiting before episode completion</a:t>
            </a:r>
          </a:p>
          <a:p>
            <a:r>
              <a:rPr lang="en-US" sz="5600" b="1" dirty="0"/>
              <a:t>Average Watch %:</a:t>
            </a:r>
            <a:r>
              <a:rPr lang="en-US" sz="5600" dirty="0"/>
              <a:t> Mean percentage of episode duration watched</a:t>
            </a:r>
          </a:p>
          <a:p>
            <a:r>
              <a:rPr lang="en-US" sz="5600" b="1" dirty="0"/>
              <a:t>Pause Intensity:</a:t>
            </a:r>
            <a:r>
              <a:rPr lang="en-US" sz="5600" dirty="0"/>
              <a:t> Frequency of pause/rewind actions during playback</a:t>
            </a:r>
          </a:p>
          <a:p>
            <a:r>
              <a:rPr lang="en-US" sz="5600" b="1" dirty="0"/>
              <a:t>Retention Risk:</a:t>
            </a:r>
            <a:r>
              <a:rPr lang="en-US" sz="5600" dirty="0"/>
              <a:t> Episode-level classification (Low / Medium / High) based on drop-off probability</a:t>
            </a:r>
          </a:p>
          <a:p>
            <a:endParaRPr lang="en-US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88D3A6-CDA0-2331-3EF6-AA4A3C025E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/>
              <a:t>3. ANALYTICAL APPROACH</a:t>
            </a:r>
          </a:p>
          <a:p>
            <a:r>
              <a:rPr lang="en-IN" sz="5600" b="1" dirty="0" err="1"/>
              <a:t>SQL&amp;Excel</a:t>
            </a:r>
            <a:r>
              <a:rPr lang="en-IN" sz="5600" b="1" dirty="0"/>
              <a:t>:</a:t>
            </a:r>
            <a:r>
              <a:rPr lang="en-IN" sz="5600" dirty="0"/>
              <a:t> Data cleaning, aggregation, feature grouping</a:t>
            </a:r>
          </a:p>
          <a:p>
            <a:r>
              <a:rPr lang="en-IN" sz="5600" b="1" dirty="0"/>
              <a:t>Power BI:</a:t>
            </a:r>
            <a:r>
              <a:rPr lang="en-IN" sz="5600" dirty="0"/>
              <a:t> KPI tracking, segmentation, dashboard visualization</a:t>
            </a:r>
          </a:p>
          <a:p>
            <a:r>
              <a:rPr lang="en-IN" sz="5600" b="1" dirty="0"/>
              <a:t>Analysis Levels:</a:t>
            </a:r>
            <a:r>
              <a:rPr lang="en-IN" sz="5600" dirty="0"/>
              <a:t> Episode | Genre | Platform | Risk segment</a:t>
            </a:r>
          </a:p>
          <a:p>
            <a:endParaRPr lang="en-IN" sz="5600" dirty="0"/>
          </a:p>
          <a:p>
            <a:pPr marL="0" indent="0">
              <a:buNone/>
            </a:pPr>
            <a:r>
              <a:rPr lang="en-US" sz="5600" b="1" dirty="0"/>
              <a:t>4. KEY ASSUMPTIONS &amp; LIMITATIONS</a:t>
            </a:r>
          </a:p>
          <a:p>
            <a:r>
              <a:rPr lang="en-US" sz="5600" dirty="0"/>
              <a:t>No user-level demographics available</a:t>
            </a:r>
          </a:p>
          <a:p>
            <a:r>
              <a:rPr lang="en-US" sz="5600" dirty="0"/>
              <a:t>Observational data (no controlled experiments)</a:t>
            </a:r>
          </a:p>
          <a:p>
            <a:r>
              <a:rPr lang="en-US" sz="5600" dirty="0"/>
              <a:t>Behavioral signals interpreted as engagement proxies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31884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97</TotalTime>
  <Words>922</Words>
  <Application>Microsoft Office PowerPoint</Application>
  <PresentationFormat>Widescreen</PresentationFormat>
  <Paragraphs>121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Wisp</vt:lpstr>
      <vt:lpstr>OTT Viewer Drop-off &amp; Retention Analysis Understanding Content, Behavior, and Platform Drivers of Viewer (Winter Consulting Capstone Case | 2025)</vt:lpstr>
      <vt:lpstr>DATA-DRIVEN INSIGHTS WHICH TELLS( WHY DO VIEWERS DROP OFF?)</vt:lpstr>
      <vt:lpstr>WHICH FACTOR HAS THE GREATEST IMPACT ON DROP-OFF RISK?</vt:lpstr>
      <vt:lpstr>What changes can be made, at the content or product level to reduce drop-off without compromising creative quality?</vt:lpstr>
      <vt:lpstr>SEGMENTATION &amp; RISK</vt:lpstr>
      <vt:lpstr>CONCLUSIONS</vt:lpstr>
      <vt:lpstr>RECOMMENDED ACTIONS &amp; PRIORITIZATION</vt:lpstr>
      <vt:lpstr>RISKS &amp; CONSIDERATIONS</vt:lpstr>
      <vt:lpstr>APPENDIX — DATA, METHODOLOGY &amp; DEFINITIONS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kumar</dc:creator>
  <cp:lastModifiedBy>adarsh kumar</cp:lastModifiedBy>
  <cp:revision>2</cp:revision>
  <dcterms:created xsi:type="dcterms:W3CDTF">2025-12-31T05:05:18Z</dcterms:created>
  <dcterms:modified xsi:type="dcterms:W3CDTF">2025-12-31T08:57:44Z</dcterms:modified>
</cp:coreProperties>
</file>